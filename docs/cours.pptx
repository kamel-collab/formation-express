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5/18/2026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145C1-ED74-4EFA-9AEB-90563D85C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0601E6-AE46-4B4D-9870-5055CF9B54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7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8CAD7-40F4-458C-BC9F-BCA05899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407" y="2355376"/>
            <a:ext cx="10058400" cy="1609344"/>
          </a:xfrm>
        </p:spPr>
        <p:txBody>
          <a:bodyPr/>
          <a:lstStyle/>
          <a:p>
            <a:pPr algn="ctr"/>
            <a:r>
              <a:rPr lang="fr-FR" dirty="0"/>
              <a:t>Module 1  Comprendre l’écosystème Node.js</a:t>
            </a:r>
          </a:p>
        </p:txBody>
      </p:sp>
    </p:spTree>
    <p:extLst>
      <p:ext uri="{BB962C8B-B14F-4D97-AF65-F5344CB8AC3E}">
        <p14:creationId xmlns:p14="http://schemas.microsoft.com/office/powerpoint/2010/main" val="22941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C1F20-A703-43E8-B192-EF3C38F6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a javascript -rappel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9CB006-2148-43C1-AFB1-C2F77AC81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178" y="1988191"/>
            <a:ext cx="10197070" cy="418400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JavaScript a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été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créé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au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départ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pour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rendre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les pages web plus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dynamiques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dans le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navigateur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Avant JavaScript,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page web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était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principalement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composée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de :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HTML pour la structure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CSS pour la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présentation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éventuellement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serveur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pour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générer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ou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envoyer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les pages.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Mais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dans le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navigateur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l’utilisateur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ne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pouvait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pas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interagir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de manière riche avec la page sans recharger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constamment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le site.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JavaScript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est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arrivé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pour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permettre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des interactions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côté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client, par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exemple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: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vérifier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formulaire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avant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l’envoi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afficher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ou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masquer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zone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modifier le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contenu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d’une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page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réagir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à 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clic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afficher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alerte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rendre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l’expérience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plus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fluide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4371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AE6C9-E2B0-429C-80D7-81129650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4" y="604007"/>
            <a:ext cx="4689446" cy="5568193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Pendant longtemps, le développement web était séparé en deux grands mondes 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1800" b="1" dirty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Côté client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 côté client correspond à ce qui s’exécute dans le navigateur de l’utilisateur.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y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trouvait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principalement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: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HTML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CSS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JavaScript.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16A294-6FBE-474C-9A6B-2F91D2FB8B4B}"/>
              </a:ext>
            </a:extLst>
          </p:cNvPr>
          <p:cNvSpPr txBox="1"/>
          <p:nvPr/>
        </p:nvSpPr>
        <p:spPr>
          <a:xfrm>
            <a:off x="5866002" y="365482"/>
            <a:ext cx="6094602" cy="580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Côté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serveur</a:t>
            </a:r>
            <a:endParaRPr lang="fr-FR" sz="1800" b="1" dirty="0">
              <a:solidFill>
                <a:srgbClr val="0F476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 côté serveur correspond à ce qui s’exécute sur une machine distante, généralement dans un hébergement ou un serveur.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y trouvait souvent des langages comme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PHP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Java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Python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Ruby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C#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etc.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 serveur avait pour rôle de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recevoir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les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requêtes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accéder à une base de données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appliquer les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règles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métier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générer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réponse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envoyer une page HTML ou des données au navigateur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36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BC6CC9-41C2-41CD-9E96-DDED9D00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864066"/>
            <a:ext cx="10398406" cy="5308134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Avec l’évolution du web, les applications sont devenues plus interactives, plus rapides et plus connectées.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Les développeurs ont commencé à chercher une manière d’utiliser JavaScript non seulement dans le navigateur, mais aussi côté serveur.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Pourquoi ?</a:t>
            </a:r>
          </a:p>
          <a:p>
            <a:pPr lvl="1"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Parce que cela permettait d’avoir un seul langage principal pour une grande partie de l’application web :</a:t>
            </a:r>
          </a:p>
          <a:p>
            <a:pPr marL="891540" lvl="2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JavaScript </a:t>
            </a:r>
            <a:r>
              <a:rPr lang="en-US" sz="14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côté</a:t>
            </a:r>
            <a:r>
              <a:rPr lang="en-US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 client ;</a:t>
            </a:r>
            <a:endParaRPr lang="fr-FR" sz="14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891540" lvl="2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JavaScript </a:t>
            </a:r>
            <a:r>
              <a:rPr lang="en-US" sz="14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côté</a:t>
            </a:r>
            <a:r>
              <a:rPr lang="en-US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4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serveur</a:t>
            </a:r>
            <a:r>
              <a:rPr lang="en-US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4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891540" lvl="2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parfois JavaScript pour les outils de </a:t>
            </a:r>
            <a:r>
              <a:rPr lang="fr-FR" sz="14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build</a:t>
            </a:r>
            <a:r>
              <a:rPr lang="fr-FR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</a:p>
          <a:p>
            <a:pPr marL="891540" lvl="2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400" dirty="0">
                <a:effectLst/>
                <a:latin typeface="Aptos"/>
                <a:ea typeface="Aptos"/>
                <a:cs typeface="Symbol" panose="05050102010706020507" pitchFamily="18" charset="2"/>
              </a:rPr>
              <a:t>parfois JavaScript pour les applications mobiles ou desktop.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Cela a aussi permis à des développeurs </a:t>
            </a:r>
            <a:r>
              <a:rPr lang="fr-FR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front-end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de mieux comprendre le </a:t>
            </a:r>
            <a:r>
              <a:rPr lang="fr-FR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back-end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car ils retrouvaient un langage familier.</a:t>
            </a:r>
          </a:p>
          <a:p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a ajouté une nouvelle possibilité : utiliser JavaScript côté serveur, avec ses propres forces et ses propres limites.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043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09EA23-B6DC-48E2-B7B5-5415239B0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94" y="570451"/>
            <a:ext cx="10742354" cy="5601749"/>
          </a:xfrm>
        </p:spPr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grâce à Node.js, JavaScript peut être utilisé pour créer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serveurs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web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API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outils en ligne de commande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scripts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d’automatisation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applications temps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réel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services backend.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Avant Node.js, quand on parlait de JavaScript, on pensait surtout au navigateur.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Avec Node.js, JavaScript devient aussi un langage côté serveur.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763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DE522-2626-4040-8292-D5142C0E7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Rôle et intérêt de Node.js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1B2D22-1A51-4188-BA61-F64A7825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point très important : Node.js n’est pas un nouveau langage.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 langage reste JavaScript.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un environnement d’exécution.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Cela veut dire qu’il fournit tout ce qu’il faut pour exécuter du JavaScript en dehors du navigateur.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Exemple simple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Quand on écrit du JavaScript dans une page HTML, c’est le navigateur qui l’exécute.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Quand on écrit du JavaScript dans un fichier </a:t>
            </a: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.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js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côté serveur, c’est Node.js qui l’exécute.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551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FAAB91-B210-4712-8373-4DE4AC6E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utiliser Node.js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DC89D-22C0-4C5A-AAE8-85D18E458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particulièrement apprécié pour certains types d’applications.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Il est souvent utilisé pour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créer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des API web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développer des applications temps réel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gérer beaucoup de connexions simultanées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construire des outils de développement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servir de backend à des applications </a:t>
            </a:r>
            <a:r>
              <a:rPr lang="fr-FR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front-end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modernes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prototyper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rapidement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application.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d’applications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adaptées</a:t>
            </a:r>
            <a:endParaRPr lang="fr-FR" sz="1800" b="1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souvent pertinent pour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application de chat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 tableau de bord en temps réel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une API pour une application mobile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une API pour une application </a:t>
            </a:r>
            <a:r>
              <a:rPr lang="fr-FR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React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, Vue ou </a:t>
            </a:r>
            <a:r>
              <a:rPr lang="fr-FR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Angular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application collaborative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système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de notifications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une application CRUD simple ou moyenne.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407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C5C307-DB48-41AB-98A9-B1843D88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moteur V8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EBB72F-4DE2-4385-9C06-B64817080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moteur JavaScript est un programme capable de lire, interpréter et exécuter du code JavaScript.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Le navigateur ne “comprend” pas JavaScript de manière magique. Il contient un moteur qui exécute le code.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Chaque navigateur peut avoir son moteur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Chrome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utilise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V8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Edge utilise aussi V8 aujourd’hui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Firefox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utilise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SpiderMonkey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Safari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utilise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JavaScriptCore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utilise le moteur V8, développé à l’origine pour Google Chrome.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V8 est connu pour sa performance. Il transforme le JavaScript en instructions compréhensibles par la machine.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Grâce à V8, Node.js peut exécuter du JavaScript rapidement en dehors du navigateur.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20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A5D68-522B-4D11-B816-7A4EA0655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Différence entre JavaScript navigateur et JavaScript côté serveur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289477B-2E9D-4607-ACCB-899545AD2C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743270"/>
              </p:ext>
            </p:extLst>
          </p:nvPr>
        </p:nvGraphicFramePr>
        <p:xfrm>
          <a:off x="562061" y="2231472"/>
          <a:ext cx="10880522" cy="369954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5440261">
                  <a:extLst>
                    <a:ext uri="{9D8B030D-6E8A-4147-A177-3AD203B41FA5}">
                      <a16:colId xmlns:a16="http://schemas.microsoft.com/office/drawing/2014/main" val="3290892023"/>
                    </a:ext>
                  </a:extLst>
                </a:gridCol>
                <a:gridCol w="5440261">
                  <a:extLst>
                    <a:ext uri="{9D8B030D-6E8A-4147-A177-3AD203B41FA5}">
                      <a16:colId xmlns:a16="http://schemas.microsoft.com/office/drawing/2014/main" val="3338519659"/>
                    </a:ext>
                  </a:extLst>
                </a:gridCol>
              </a:tblGrid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JavaScript navigateur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JavaScript avec Node.js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60401205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S’exécute dans Chrome, Firefox, Safari, etc.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S’exécute dans Node.js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4740399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Interagit avec la page HTML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Interagit avec le serveur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519138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Accès au DOM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Pas d’accès direct au DOM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5151789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Utilise </a:t>
                      </a:r>
                      <a:r>
                        <a:rPr lang="en-US" sz="1100">
                          <a:effectLst/>
                        </a:rPr>
                        <a:t>window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100">
                          <a:effectLst/>
                        </a:rPr>
                        <a:t>document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100">
                          <a:effectLst/>
                        </a:rPr>
                        <a:t>alert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Utilise </a:t>
                      </a:r>
                      <a:r>
                        <a:rPr lang="en-US" sz="1100">
                          <a:effectLst/>
                        </a:rPr>
                        <a:t>fs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100">
                          <a:effectLst/>
                        </a:rPr>
                        <a:t>http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100">
                          <a:effectLst/>
                        </a:rPr>
                        <a:t>path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100">
                          <a:effectLst/>
                        </a:rPr>
                        <a:t>process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5607609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Réagit aux clics, formulaires, événements utilisateur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Réagit aux requêtes HTTP, fichiers, connexions réseau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8278421"/>
                  </a:ext>
                </a:extLst>
              </a:tr>
              <a:tr h="52850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Code visible par l’utilisateur dans le navigateur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 dirty="0">
                          <a:effectLst/>
                        </a:rPr>
                        <a:t>Code serveur non visible par l’utilisateur</a:t>
                      </a:r>
                      <a:endParaRPr lang="fr-FR" sz="12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451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56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7EB76-CA02-4147-860D-CEAF0C3CA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très bon quand l’application attend beaucoup : fichiers, réseau, base de données. Il est moins adapté si l’application passe son temps à faire de très gros calculs bloquants.</a:t>
            </a:r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54026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9B86F-A51F-4413-A965-76E4D2C7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Programmation événementielle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222BF8-FF7F-45A4-B71B-768A9102F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397" y="1819404"/>
            <a:ext cx="4131326" cy="4050792"/>
          </a:xfrm>
        </p:spPr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programmation événementielle est une manière d’écrire du code où une action déclenche une réaction.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événement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peut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être</a:t>
            </a:r>
            <a:r>
              <a:rPr lang="en-US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:</a:t>
            </a:r>
            <a:endParaRPr lang="fr-FR" sz="18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un clic sur un bouton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la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réception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d’une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requête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la fin de lecture d’un fichier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l’arrivée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d’une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donnée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erreur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la fin d’un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délai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2B471F2-00A7-4205-88C5-C72E1AB7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083" y="1723895"/>
            <a:ext cx="5455520" cy="39539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4B697D9-C583-4096-A144-7644477E332E}"/>
              </a:ext>
            </a:extLst>
          </p:cNvPr>
          <p:cNvSpPr txBox="1"/>
          <p:nvPr/>
        </p:nvSpPr>
        <p:spPr>
          <a:xfrm>
            <a:off x="278934" y="5307715"/>
            <a:ext cx="609460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fonction donnée à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addEventListener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n’est pas exécutée immédiatement.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Elle est gardée en mémoire et sera exécutée plus tard, quand l’événement 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click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arrivera.</a:t>
            </a:r>
          </a:p>
        </p:txBody>
      </p:sp>
    </p:spTree>
    <p:extLst>
      <p:ext uri="{BB962C8B-B14F-4D97-AF65-F5344CB8AC3E}">
        <p14:creationId xmlns:p14="http://schemas.microsoft.com/office/powerpoint/2010/main" val="406895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D2C83-268B-4B0D-99AA-5CE45A47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Fonctionnement asynchrone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33CC1-0824-4650-99BE-0D5DFE15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0988"/>
            <a:ext cx="10058400" cy="1102066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code asynchrone est un code qui lance une tâche qui prend du temps, puis continue le reste du programme sans attendre bloquer toute l’exécution.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suite du traitement sera exécutée plus tard, quand la tâche sera terminée.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6FBAE1-302A-4DF7-95A0-F10A5EB1A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147" y="2659259"/>
            <a:ext cx="5019276" cy="273137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6155289-64BD-4C59-8532-9FAAD67F64A1}"/>
              </a:ext>
            </a:extLst>
          </p:cNvPr>
          <p:cNvSpPr txBox="1"/>
          <p:nvPr/>
        </p:nvSpPr>
        <p:spPr>
          <a:xfrm>
            <a:off x="122300" y="2967335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1000"/>
              </a:spcAft>
            </a:pP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1 - Début</a:t>
            </a:r>
            <a:b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3 - Fin</a:t>
            </a:r>
            <a:b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2 - Message après 2 secondes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33A9218-3789-4798-852E-F3896E489F4B}"/>
              </a:ext>
            </a:extLst>
          </p:cNvPr>
          <p:cNvSpPr txBox="1"/>
          <p:nvPr/>
        </p:nvSpPr>
        <p:spPr>
          <a:xfrm>
            <a:off x="94317" y="4024946"/>
            <a:ext cx="6404247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2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setTimeout</a:t>
            </a:r>
            <a:r>
              <a:rPr lang="fr-FR" sz="1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lance une tâche qui attend 2 secondes.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JavaScript ne bloque pas tout le programme pendant ces 2 secondes.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Il continue et affiche :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2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3 – Fin</a:t>
            </a:r>
          </a:p>
          <a:p>
            <a:pPr latinLnBrk="1">
              <a:spcAft>
                <a:spcPts val="1000"/>
              </a:spcAft>
            </a:pPr>
            <a:r>
              <a:rPr lang="fr-FR" sz="1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Puis, quand les 2 secondes sont passées, il exécute la fonction donnée à </a:t>
            </a:r>
            <a:r>
              <a:rPr lang="fr-FR" sz="12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setTimeout</a:t>
            </a:r>
            <a:r>
              <a:rPr lang="fr-FR" sz="14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441D948-92A6-4A98-81F8-3B5095637AAD}"/>
              </a:ext>
            </a:extLst>
          </p:cNvPr>
          <p:cNvSpPr txBox="1"/>
          <p:nvPr/>
        </p:nvSpPr>
        <p:spPr>
          <a:xfrm>
            <a:off x="4915949" y="6105914"/>
            <a:ext cx="6107184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fr-FR" b="1" dirty="0"/>
              <a:t>callback</a:t>
            </a:r>
            <a:r>
              <a:rPr lang="fr-FR" dirty="0"/>
              <a:t>, </a:t>
            </a:r>
            <a:r>
              <a:rPr lang="fr-FR" b="1" dirty="0"/>
              <a:t>Promise</a:t>
            </a:r>
            <a:r>
              <a:rPr lang="fr-FR" dirty="0"/>
              <a:t> et </a:t>
            </a:r>
            <a:r>
              <a:rPr lang="fr-FR" b="1" dirty="0" err="1"/>
              <a:t>async</a:t>
            </a:r>
            <a:r>
              <a:rPr lang="fr-FR" b="1" dirty="0"/>
              <a:t>/</a:t>
            </a:r>
            <a:r>
              <a:rPr lang="fr-FR" b="1" dirty="0" err="1"/>
              <a:t>await</a:t>
            </a:r>
            <a:r>
              <a:rPr lang="fr-FR" dirty="0"/>
              <a:t> sont trois manières d’écrire ou de gérer ce code asynchrone en JavaScript.</a:t>
            </a:r>
          </a:p>
        </p:txBody>
      </p:sp>
    </p:spTree>
    <p:extLst>
      <p:ext uri="{BB962C8B-B14F-4D97-AF65-F5344CB8AC3E}">
        <p14:creationId xmlns:p14="http://schemas.microsoft.com/office/powerpoint/2010/main" val="180674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C42BD-3C1A-4E64-920A-CD7E2542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callbacks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D67E1A-2B7F-4367-9763-7512E95CF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callback est une fonction passée en paramètre à une autre fonction, pour être appelée plus tard.</a:t>
            </a:r>
          </a:p>
          <a:p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 callback est une fonction de rappel, On donne une fonction à JavaScript, et JavaScript la rappelle au bon moment.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ECCAEA-09F5-4EF3-A759-E0437D8B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19" y="3204589"/>
            <a:ext cx="4019812" cy="306696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E2557E5-9939-4F5A-92AC-DE8AC30B5359}"/>
              </a:ext>
            </a:extLst>
          </p:cNvPr>
          <p:cNvSpPr txBox="1"/>
          <p:nvPr/>
        </p:nvSpPr>
        <p:spPr>
          <a:xfrm>
            <a:off x="530604" y="3889975"/>
            <a:ext cx="609460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fonction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direBonjour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est passée comme paramètre à la fonction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executer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Dans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executer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on appelle cette fonction grâce au nom 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callback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379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59E4B-E344-40A5-92FD-52C96460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7" y="795947"/>
            <a:ext cx="5624567" cy="4050792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Pourquoi utiliser un callback ?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utilise un callback quand on veut dire :</a:t>
            </a:r>
          </a:p>
          <a:p>
            <a:pPr marL="304800" marR="304800">
              <a:spcBef>
                <a:spcPts val="500"/>
              </a:spcBef>
              <a:spcAft>
                <a:spcPts val="5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Quand tu as fini cette tâche, exécute cette fonction.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Dans Node.js, les callbacks sont beaucoup utilisés historiquement pour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lire un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fichier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attendre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requête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gérer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erreur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traiter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réponse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exécuter du code après une opération longue.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759496-0A49-4A89-AF64-C5CAB60EA00D}"/>
              </a:ext>
            </a:extLst>
          </p:cNvPr>
          <p:cNvSpPr txBox="1"/>
          <p:nvPr/>
        </p:nvSpPr>
        <p:spPr>
          <a:xfrm>
            <a:off x="6403598" y="461394"/>
            <a:ext cx="5081631" cy="6542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20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Limite des callbacks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Quand il y a trop de callbacks imbriqués, le code devient difficile à lire.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Exemple simplifié :</a:t>
            </a:r>
          </a:p>
          <a:p>
            <a:pPr latinLnBrk="1">
              <a:spcAft>
                <a:spcPts val="1000"/>
              </a:spcAft>
            </a:pPr>
            <a:r>
              <a:rPr lang="fr-FR" sz="1400" dirty="0" err="1">
                <a:solidFill>
                  <a:srgbClr val="BC7A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setTimeout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b="1" dirty="0" err="1">
                <a:solidFill>
                  <a:srgbClr val="00702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function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() {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</a:t>
            </a:r>
            <a:r>
              <a:rPr lang="fr-F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console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.</a:t>
            </a:r>
            <a:r>
              <a:rPr lang="fr-FR" sz="14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log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'Étape 1'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</a:t>
            </a:r>
            <a:r>
              <a:rPr lang="fr-FR" sz="1400" dirty="0" err="1">
                <a:solidFill>
                  <a:srgbClr val="BC7A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setTimeout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b="1" dirty="0" err="1">
                <a:solidFill>
                  <a:srgbClr val="00702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function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() {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  </a:t>
            </a:r>
            <a:r>
              <a:rPr lang="fr-F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console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.</a:t>
            </a:r>
            <a:r>
              <a:rPr lang="fr-FR" sz="14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log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'Étape 2'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  </a:t>
            </a:r>
            <a:r>
              <a:rPr lang="fr-FR" sz="1400" dirty="0" err="1">
                <a:solidFill>
                  <a:srgbClr val="BC7A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setTimeout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b="1" dirty="0" err="1">
                <a:solidFill>
                  <a:srgbClr val="00702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function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() {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    </a:t>
            </a:r>
            <a:r>
              <a:rPr lang="fr-F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console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.</a:t>
            </a:r>
            <a:r>
              <a:rPr lang="fr-FR" sz="1400" dirty="0">
                <a:solidFill>
                  <a:srgbClr val="06287E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log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</a:t>
            </a:r>
            <a:r>
              <a:rPr lang="fr-FR" sz="1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'Étape 3'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  }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,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fr-FR" sz="1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1000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 }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,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fr-FR" sz="1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1000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b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}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,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fr-FR" sz="1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1000</a:t>
            </a:r>
            <a:r>
              <a:rPr lang="fr-FR" sz="14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)</a:t>
            </a:r>
            <a:r>
              <a:rPr lang="fr-FR" sz="1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;</a:t>
            </a:r>
            <a:endParaRPr lang="fr-FR" sz="1400" dirty="0">
              <a:effectLst/>
              <a:latin typeface="Consolas" panose="020B0609020204030204" pitchFamily="49" charset="0"/>
              <a:ea typeface="Aptos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Ce code fonctionne, mais il devient vite lourd.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Ce problème est souvent appelé “callback </a:t>
            </a:r>
            <a:r>
              <a:rPr lang="fr-FR" sz="16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hell</a:t>
            </a: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”, c’est-à-dire l’enfer des callbacks.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C’est pour cela que JavaScript a introduit les Promises, puis </a:t>
            </a:r>
            <a:r>
              <a:rPr lang="fr-FR" sz="16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async</a:t>
            </a: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/</a:t>
            </a:r>
            <a:r>
              <a:rPr lang="fr-FR" sz="16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6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034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9E2635-3FB0-400A-98E2-8FBBDE5E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Promises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8E15AC-449B-4A91-82A8-A1CC82F77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Une Promise représente une opération qui n’est pas encore terminée, mais qui donnera un résultat plus tard.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Une Promise peut avoir trois états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en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attente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réussie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échouée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F02AB8-6D4C-4CAA-A920-D8AF0F09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047" y="2581841"/>
            <a:ext cx="4951870" cy="39154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6E38E53-87C7-487A-913D-A2938E648223}"/>
              </a:ext>
            </a:extLst>
          </p:cNvPr>
          <p:cNvSpPr txBox="1"/>
          <p:nvPr/>
        </p:nvSpPr>
        <p:spPr>
          <a:xfrm>
            <a:off x="81776" y="4267635"/>
            <a:ext cx="6094602" cy="2367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1000"/>
              </a:spcAft>
            </a:pP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Avant la promesse</a:t>
            </a:r>
            <a:b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Après la promesse</a:t>
            </a:r>
            <a:b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Opération réussie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Promise attend 2 secondes avant de réussir.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Pendant ce temps, JavaScript continue le reste du programme.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Quand la Promise réussit, le 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.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then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()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est exécuté.</a:t>
            </a:r>
          </a:p>
        </p:txBody>
      </p:sp>
    </p:spTree>
    <p:extLst>
      <p:ext uri="{BB962C8B-B14F-4D97-AF65-F5344CB8AC3E}">
        <p14:creationId xmlns:p14="http://schemas.microsoft.com/office/powerpoint/2010/main" val="409971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778A38D-ABFD-4003-8777-4A196ABE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05" y="1093034"/>
            <a:ext cx="6665068" cy="504351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09B505A-2EF7-4566-B872-BF3F7424D422}"/>
              </a:ext>
            </a:extLst>
          </p:cNvPr>
          <p:cNvSpPr txBox="1"/>
          <p:nvPr/>
        </p:nvSpPr>
        <p:spPr>
          <a:xfrm>
            <a:off x="304101" y="1688587"/>
            <a:ext cx="609460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resolve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signifie : l’opération a réussi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reject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signifie : l’opération a échoué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.then()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traite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le succès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.catch()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traite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l’erreur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7536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E8A1EA-94D5-47BF-BDE2-715F2D7F2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utiliser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Promise ?</a:t>
            </a:r>
            <a:endParaRPr lang="fr-FR" sz="1800" b="1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utilise une Promise pour mieux organiser les opérations asynchrones.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Elle rend le code plus clair que plusieurs callbacks imbriqués.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Dans Node.js et Express, beaucoup d’opérations modernes utilisent des Promises, par exemple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interroger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MongoDB avec Mongoose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appeler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API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lire des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données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attendre le résultat d’une opération serveur.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371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FCA2FD-7245-419C-A27E-068D5D98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async</a:t>
            </a:r>
            <a:r>
              <a:rPr lang="fr-FR" dirty="0"/>
              <a:t> / </a:t>
            </a:r>
            <a:r>
              <a:rPr lang="fr-FR" dirty="0" err="1"/>
              <a:t>await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88869E-E718-4F60-AE46-E396D18C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17" y="1828800"/>
            <a:ext cx="10608131" cy="4343400"/>
          </a:xfrm>
        </p:spPr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async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et 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permettent d’écrire du code asynchrone avec une forme plus lisible.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utilise 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pour attendre le résultat d’une Promise.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Mais 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doit être utilisé dans une fonction déclarée avec 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async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381DA0-A934-4AB8-B7B0-CDCB4A37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19" y="2628919"/>
            <a:ext cx="4704671" cy="362507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1DB5225-E330-4555-8ED2-8C819B697511}"/>
              </a:ext>
            </a:extLst>
          </p:cNvPr>
          <p:cNvSpPr txBox="1"/>
          <p:nvPr/>
        </p:nvSpPr>
        <p:spPr>
          <a:xfrm>
            <a:off x="429936" y="3308426"/>
            <a:ext cx="6094602" cy="306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24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Résultat</a:t>
            </a:r>
          </a:p>
          <a:p>
            <a:pPr latinLnBrk="1">
              <a:spcAft>
                <a:spcPts val="1000"/>
              </a:spcAft>
            </a:pP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Début</a:t>
            </a:r>
            <a:b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Résultat après 2 secondes</a:t>
            </a:r>
            <a:b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Fin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La fonction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attendreDeuxSecondes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retourne une Promise.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Dans la fonction 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lancer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le mot-clé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attend le résultat de cette Promise avant de passer à la ligne suivante.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Cela rend le code plus facile à lire.</a:t>
            </a:r>
          </a:p>
        </p:txBody>
      </p:sp>
    </p:spTree>
    <p:extLst>
      <p:ext uri="{BB962C8B-B14F-4D97-AF65-F5344CB8AC3E}">
        <p14:creationId xmlns:p14="http://schemas.microsoft.com/office/powerpoint/2010/main" val="172096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F156B95-3586-4910-8FE6-AD243BF4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063" y="668223"/>
            <a:ext cx="4677187" cy="390797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E48AEAA-1ECF-47AE-9789-3BA6DE4A8225}"/>
              </a:ext>
            </a:extLst>
          </p:cNvPr>
          <p:cNvSpPr txBox="1"/>
          <p:nvPr/>
        </p:nvSpPr>
        <p:spPr>
          <a:xfrm>
            <a:off x="380302" y="2851919"/>
            <a:ext cx="609460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ne bloque pas tout JavaScript.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Il met en pause la fonction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async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mais le reste du programme peut continuer.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1DDF9C-335E-4405-9F56-88ED85EFE573}"/>
              </a:ext>
            </a:extLst>
          </p:cNvPr>
          <p:cNvSpPr txBox="1"/>
          <p:nvPr/>
        </p:nvSpPr>
        <p:spPr>
          <a:xfrm>
            <a:off x="1008777" y="1421879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1000"/>
              </a:spcAft>
            </a:pP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1 - Avant appel</a:t>
            </a:r>
            <a:b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2 - Début de la fonction </a:t>
            </a:r>
            <a:r>
              <a:rPr lang="fr-FR" sz="1800" dirty="0" err="1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async</a:t>
            </a:r>
            <a:b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4 - Après appel</a:t>
            </a:r>
            <a:b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</a:br>
            <a:r>
              <a:rPr lang="fr-FR" sz="1800" dirty="0">
                <a:effectLst/>
                <a:latin typeface="Consolas" panose="020B0609020204030204" pitchFamily="49" charset="0"/>
                <a:ea typeface="Aptos"/>
                <a:cs typeface="Times New Roman" panose="02020603050405020304" pitchFamily="18" charset="0"/>
              </a:rPr>
              <a:t>3 - Opération terminée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015E899-6C0C-4350-9C68-01518E79E206}"/>
              </a:ext>
            </a:extLst>
          </p:cNvPr>
          <p:cNvSpPr txBox="1"/>
          <p:nvPr/>
        </p:nvSpPr>
        <p:spPr>
          <a:xfrm>
            <a:off x="380302" y="4143459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24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Pourquoi utiliser </a:t>
            </a:r>
            <a:r>
              <a:rPr lang="fr-FR" sz="24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fr-FR" sz="24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400" b="1" dirty="0" err="1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await</a:t>
            </a:r>
            <a:r>
              <a:rPr lang="fr-FR" sz="24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On utilise </a:t>
            </a:r>
            <a:r>
              <a:rPr lang="fr-FR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async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/</a:t>
            </a:r>
            <a:r>
              <a:rPr lang="fr-FR" sz="18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await</a:t>
            </a: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parce que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le code est plus lisible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les étapes sont plus faciles à suivre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la gestion des erreurs avec </a:t>
            </a:r>
            <a:r>
              <a:rPr lang="fr-FR" sz="1600" dirty="0" err="1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try</a:t>
            </a:r>
            <a:r>
              <a:rPr lang="fr-FR" sz="1600" dirty="0">
                <a:effectLst/>
                <a:latin typeface="Consolas" panose="020B0609020204030204" pitchFamily="49" charset="0"/>
                <a:ea typeface="Aptos"/>
                <a:cs typeface="Symbol" panose="05050102010706020507" pitchFamily="18" charset="2"/>
              </a:rPr>
              <a:t>/catch</a:t>
            </a: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est claire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c’est très utilisé dans les applications modernes Node.js, Express et MongoDB.</a:t>
            </a:r>
          </a:p>
        </p:txBody>
      </p:sp>
    </p:spTree>
    <p:extLst>
      <p:ext uri="{BB962C8B-B14F-4D97-AF65-F5344CB8AC3E}">
        <p14:creationId xmlns:p14="http://schemas.microsoft.com/office/powerpoint/2010/main" val="1075938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5B14F1A-6AC4-4957-A5BB-6D6112BD7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164834"/>
              </p:ext>
            </p:extLst>
          </p:nvPr>
        </p:nvGraphicFramePr>
        <p:xfrm>
          <a:off x="671119" y="2558642"/>
          <a:ext cx="10457256" cy="2045109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485752">
                  <a:extLst>
                    <a:ext uri="{9D8B030D-6E8A-4147-A177-3AD203B41FA5}">
                      <a16:colId xmlns:a16="http://schemas.microsoft.com/office/drawing/2014/main" val="3347696258"/>
                    </a:ext>
                  </a:extLst>
                </a:gridCol>
                <a:gridCol w="3485752">
                  <a:extLst>
                    <a:ext uri="{9D8B030D-6E8A-4147-A177-3AD203B41FA5}">
                      <a16:colId xmlns:a16="http://schemas.microsoft.com/office/drawing/2014/main" val="2660729203"/>
                    </a:ext>
                  </a:extLst>
                </a:gridCol>
                <a:gridCol w="3485752">
                  <a:extLst>
                    <a:ext uri="{9D8B030D-6E8A-4147-A177-3AD203B41FA5}">
                      <a16:colId xmlns:a16="http://schemas.microsoft.com/office/drawing/2014/main" val="861223590"/>
                    </a:ext>
                  </a:extLst>
                </a:gridCol>
              </a:tblGrid>
              <a:tr h="40902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Style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Idée principale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Lisibilité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21337136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Callback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On donne une fonction à appeler plus tard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Correct au début, difficile si imbriqué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3831067"/>
                  </a:ext>
                </a:extLst>
              </a:tr>
              <a:tr h="40902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Promise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L’opération promet un résultat futur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Plus organisée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9596017"/>
                  </a:ext>
                </a:extLst>
              </a:tr>
              <a:tr h="81804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>
                          <a:effectLst/>
                        </a:rPr>
                        <a:t>async/await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fr-FR" sz="1200">
                          <a:effectLst/>
                        </a:rPr>
                        <a:t>On attend une Promise avec une syntaxe plus simple</a:t>
                      </a:r>
                      <a:endParaRPr lang="fr-FR" sz="12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200" dirty="0" err="1">
                          <a:effectLst/>
                        </a:rPr>
                        <a:t>Très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lisible</a:t>
                      </a:r>
                      <a:endParaRPr lang="fr-FR" sz="12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9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668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FE97C-37CF-4AF7-8E9F-6D75B1D4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Usages et cas d’emploi de Node.js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5ED84D-DEFC-4F94-AF0D-125EAC2C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45" y="2003962"/>
            <a:ext cx="3762211" cy="4050792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utilisé pour créer des applications côté serveur avec JavaScript.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Il est particulièrement utile quand l’application doit gérer beaucoup d’échanges avec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utilisateurs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fichiers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une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base de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données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API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services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externes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.</a:t>
            </a: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Cas d’emploi fréquents</a:t>
            </a: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Créer une API web</a:t>
            </a: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Créer une application web avec Express et EJS</a:t>
            </a:r>
            <a:endParaRPr lang="fr-FR" sz="1800" dirty="0"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b="1" dirty="0">
                <a:solidFill>
                  <a:srgbClr val="0F4761"/>
                </a:solidFill>
                <a:effectLst/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Créer une application temps réel</a:t>
            </a: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. Créer un backend pour une application mobile</a:t>
            </a: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Créer des outils de développement</a:t>
            </a:r>
            <a:endParaRPr lang="fr-FR" sz="1800" b="1" dirty="0">
              <a:solidFill>
                <a:srgbClr val="0F4761"/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endParaRPr lang="fr-FR" sz="1800" b="1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412D86-DD83-4682-9BC2-427EDFB9BF94}"/>
              </a:ext>
            </a:extLst>
          </p:cNvPr>
          <p:cNvSpPr txBox="1"/>
          <p:nvPr/>
        </p:nvSpPr>
        <p:spPr>
          <a:xfrm>
            <a:off x="5254053" y="2003962"/>
            <a:ext cx="625564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fr-FR" sz="2400" b="1" dirty="0">
                <a:solidFill>
                  <a:srgbClr val="0F4761"/>
                </a:solidFill>
                <a:effectLst/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Quand Node.js est un bon choix ?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fr-FR" sz="18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Node.js est un bon choix pour :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API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applications CRUD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dashboards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applications temps </a:t>
            </a:r>
            <a:r>
              <a:rPr lang="en-US" sz="1800" dirty="0" err="1">
                <a:effectLst/>
                <a:latin typeface="Aptos"/>
                <a:ea typeface="Aptos"/>
                <a:cs typeface="Symbol" panose="05050102010706020507" pitchFamily="18" charset="2"/>
              </a:rPr>
              <a:t>réel</a:t>
            </a:r>
            <a:r>
              <a:rPr lang="en-US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 ;</a:t>
            </a:r>
            <a:endParaRPr lang="fr-FR" sz="1800" dirty="0">
              <a:effectLst/>
              <a:latin typeface="Aptos"/>
              <a:ea typeface="Aptos"/>
              <a:cs typeface="Symbol" panose="05050102010706020507" pitchFamily="18" charset="2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backends pour applications web ou mobiles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projets où l’équipe connaît déjà JavaScript ;</a:t>
            </a: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ptos"/>
                <a:ea typeface="Aptos"/>
                <a:cs typeface="Symbol" panose="05050102010706020507" pitchFamily="18" charset="2"/>
              </a:rPr>
              <a:t>des applications qui font beaucoup d’entrées/sorties.</a:t>
            </a:r>
          </a:p>
        </p:txBody>
      </p:sp>
    </p:spTree>
    <p:extLst>
      <p:ext uri="{BB962C8B-B14F-4D97-AF65-F5344CB8AC3E}">
        <p14:creationId xmlns:p14="http://schemas.microsoft.com/office/powerpoint/2010/main" val="87535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0C6DE6-F933-404A-A02D-1D95B39E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463" y="2624328"/>
            <a:ext cx="10058400" cy="1609344"/>
          </a:xfrm>
        </p:spPr>
        <p:txBody>
          <a:bodyPr/>
          <a:lstStyle/>
          <a:p>
            <a:r>
              <a:rPr lang="fr-FR" dirty="0"/>
              <a:t>Démarrer un projet Node.js</a:t>
            </a:r>
          </a:p>
        </p:txBody>
      </p:sp>
    </p:spTree>
    <p:extLst>
      <p:ext uri="{BB962C8B-B14F-4D97-AF65-F5344CB8AC3E}">
        <p14:creationId xmlns:p14="http://schemas.microsoft.com/office/powerpoint/2010/main" val="2008947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37AAC-42CC-4827-A66C-B9F2A49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de Node.js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9163E8-A09D-4EE3-B49C-58C44AB9C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93" y="2093976"/>
            <a:ext cx="6622857" cy="4050792"/>
          </a:xfrm>
        </p:spPr>
        <p:txBody>
          <a:bodyPr>
            <a:normAutofit/>
          </a:bodyPr>
          <a:lstStyle/>
          <a:p>
            <a:r>
              <a:rPr lang="fr-FR" sz="1400" dirty="0"/>
              <a:t>Installer Node.js signifie installer sur la machine un environnement capable d’exécuter du JavaScript en dehors du navigateur.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Avant, on exécutait JavaScript dans le navigateur. Avec Node.js, on peut exécuter JavaScript directement sur la machine.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sz="1400" dirty="0">
              <a:latin typeface="Arial" panose="020B0604020202020204" pitchFamily="34" charset="0"/>
            </a:endParaRPr>
          </a:p>
          <a:p>
            <a:r>
              <a:rPr lang="fr-FR" sz="1400" b="1" dirty="0"/>
              <a:t>Que faut-il installer ?</a:t>
            </a:r>
          </a:p>
          <a:p>
            <a:r>
              <a:rPr lang="fr-FR" sz="1400" dirty="0"/>
              <a:t>Il faut installer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b="1" dirty="0"/>
              <a:t>Node.js</a:t>
            </a:r>
            <a:r>
              <a:rPr lang="fr-FR" sz="1400" dirty="0"/>
              <a:t> : pour exécuter JavaScript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b="1" dirty="0" err="1"/>
              <a:t>npm</a:t>
            </a:r>
            <a:r>
              <a:rPr lang="fr-FR" sz="1400" dirty="0"/>
              <a:t> : pour installer des bibliothèques et gérer le projet. </a:t>
            </a:r>
          </a:p>
          <a:p>
            <a:r>
              <a:rPr lang="fr-FR" sz="1400" dirty="0"/>
              <a:t>En général, quand on installe Node.js depuis le site officiel, </a:t>
            </a:r>
            <a:r>
              <a:rPr lang="fr-FR" sz="1400" dirty="0" err="1"/>
              <a:t>npm</a:t>
            </a:r>
            <a:r>
              <a:rPr lang="fr-FR" sz="1400" dirty="0"/>
              <a:t> est installé avec lui.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https://nodejs.org/fr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fr-FR" sz="1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31E8558-AAE2-40F0-A08C-03F607FB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705" y="603588"/>
            <a:ext cx="3848637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44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C197DBF-79A9-46BC-926D-DB2D4D3E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72" y="245378"/>
            <a:ext cx="2562044" cy="631691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DC71E32-4217-49E0-ABEF-4D43E8A10D78}"/>
              </a:ext>
            </a:extLst>
          </p:cNvPr>
          <p:cNvSpPr txBox="1"/>
          <p:nvPr/>
        </p:nvSpPr>
        <p:spPr>
          <a:xfrm>
            <a:off x="4129481" y="599461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Dans le navigateur, on ouvrait la console pour exécuter JavaScript.</a:t>
            </a:r>
          </a:p>
          <a:p>
            <a:r>
              <a:rPr lang="fr-FR" dirty="0"/>
              <a:t>Avec Node.js, on peut exécuter un fichier JavaScript directement depuis le terminal.</a:t>
            </a:r>
          </a:p>
        </p:txBody>
      </p:sp>
    </p:spTree>
    <p:extLst>
      <p:ext uri="{BB962C8B-B14F-4D97-AF65-F5344CB8AC3E}">
        <p14:creationId xmlns:p14="http://schemas.microsoft.com/office/powerpoint/2010/main" val="288765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E6A5ED4-14B1-43A7-84A1-90FB97380BC5}"/>
              </a:ext>
            </a:extLst>
          </p:cNvPr>
          <p:cNvSpPr txBox="1"/>
          <p:nvPr/>
        </p:nvSpPr>
        <p:spPr>
          <a:xfrm>
            <a:off x="866163" y="510971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Utilisation de </a:t>
            </a:r>
            <a:r>
              <a:rPr lang="fr-FR" b="1" dirty="0" err="1"/>
              <a:t>npm</a:t>
            </a:r>
            <a:endParaRPr lang="fr-FR" b="1" dirty="0"/>
          </a:p>
          <a:p>
            <a:r>
              <a:rPr lang="fr-FR" b="1" dirty="0"/>
              <a:t>Définition simple</a:t>
            </a:r>
          </a:p>
          <a:p>
            <a:r>
              <a:rPr lang="fr-FR" dirty="0" err="1"/>
              <a:t>npm</a:t>
            </a:r>
            <a:r>
              <a:rPr lang="fr-FR" dirty="0"/>
              <a:t> est le gestionnaire de packages de Node.js.</a:t>
            </a:r>
          </a:p>
          <a:p>
            <a:r>
              <a:rPr lang="fr-FR" dirty="0"/>
              <a:t>Il sert à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initialiser un projet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installer des bibliothèques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supprimer des bibliothèques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lancer des scripts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gérer les dépendances du projet.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5E569C5-BD75-4E6A-9988-F9EC3634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47" y="349052"/>
            <a:ext cx="4229690" cy="26197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9F711CB-1968-4071-B8EA-984550DD0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92" y="3429000"/>
            <a:ext cx="2968764" cy="322126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ADEA2FD-0C4F-4289-9D99-BF3B3BB00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268" y="3452871"/>
            <a:ext cx="3432993" cy="28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23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B555B10-179D-4B27-8F90-87CE2A4BB9EB}"/>
              </a:ext>
            </a:extLst>
          </p:cNvPr>
          <p:cNvSpPr txBox="1"/>
          <p:nvPr/>
        </p:nvSpPr>
        <p:spPr>
          <a:xfrm>
            <a:off x="471882" y="344365"/>
            <a:ext cx="609460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Rôle du fichier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package.json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Définition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fichier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package.json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 la carte d’identité du projet Node.js.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contient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nom du projet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 version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 fichier principal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 scripts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 dépendances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parfois son type de module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parfois des informations sur l’auteur ou la licence.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954E5C1-8A1F-412E-887F-A5809F5A6FCD}"/>
              </a:ext>
            </a:extLst>
          </p:cNvPr>
          <p:cNvSpPr txBox="1"/>
          <p:nvPr/>
        </p:nvSpPr>
        <p:spPr>
          <a:xfrm>
            <a:off x="652943" y="4304346"/>
            <a:ext cx="6094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Créer un script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Problème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exécuter notre fichier, on fait :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app.js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 n’est pas compliqué, mais dans un projet réel, les commandes peuvent devenir plus longues.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utilise donc les scripts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272E78-C89B-4CA6-9951-2651CBC871B5}"/>
              </a:ext>
            </a:extLst>
          </p:cNvPr>
          <p:cNvSpPr txBox="1"/>
          <p:nvPr/>
        </p:nvSpPr>
        <p:spPr>
          <a:xfrm>
            <a:off x="6855902" y="117693"/>
            <a:ext cx="609460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Modifier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package.json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package.json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remplacer la partie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scripts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"scripts": {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"start": 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app.js"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Fichier complet possible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"formation-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"version": "1.0.0",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"description": "Premier projet Node.js",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"main": "app.js",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"scripts": {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"start": 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app.js"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"keywords": [],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"",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license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"ISC"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Lancer le projet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 lieu de faire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app.js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 peut faire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start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162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FAF92D4-CE8E-4204-8BB9-07757366C13E}"/>
              </a:ext>
            </a:extLst>
          </p:cNvPr>
          <p:cNvSpPr txBox="1"/>
          <p:nvPr/>
        </p:nvSpPr>
        <p:spPr>
          <a:xfrm>
            <a:off x="396380" y="217357"/>
            <a:ext cx="60946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Gestion des dépendances</a:t>
            </a:r>
          </a:p>
          <a:p>
            <a:r>
              <a:rPr lang="fr-FR" b="1" dirty="0"/>
              <a:t>Définition simple</a:t>
            </a:r>
          </a:p>
          <a:p>
            <a:r>
              <a:rPr lang="fr-FR" dirty="0"/>
              <a:t>Une dépendance est une bibliothèque externe dont notre projet a besoin pour fonctionner.</a:t>
            </a:r>
          </a:p>
          <a:p>
            <a:r>
              <a:rPr lang="fr-FR" b="1" dirty="0"/>
              <a:t>Exemple simple</a:t>
            </a:r>
          </a:p>
          <a:p>
            <a:r>
              <a:rPr lang="fr-FR" dirty="0"/>
              <a:t>Si on veut créer un serveur web facilement, on peut installer Express.</a:t>
            </a:r>
          </a:p>
          <a:p>
            <a:r>
              <a:rPr lang="fr-FR" dirty="0"/>
              <a:t>Express est une dépendance.</a:t>
            </a:r>
          </a:p>
          <a:p>
            <a:r>
              <a:rPr lang="fr-FR" b="1" dirty="0"/>
              <a:t>Installer une dépendance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BE29E1-8FAB-4E2F-9C66-49654F15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93" y="2869895"/>
            <a:ext cx="3018753" cy="367891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15A6175-91D0-441D-979B-C67CFE4D8C06}"/>
              </a:ext>
            </a:extLst>
          </p:cNvPr>
          <p:cNvSpPr txBox="1"/>
          <p:nvPr/>
        </p:nvSpPr>
        <p:spPr>
          <a:xfrm>
            <a:off x="4934824" y="2590101"/>
            <a:ext cx="60946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Explication des fichiers et dossiers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node_modules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C’est le dossier qui contient les packages installés.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peut devenir très volumineux.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ne l’écrit pas à la main.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ne le modifie pas directement.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package-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lock.json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C’est un fichier généré par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garde les versions exactes installées.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permet de garder une installation stable d’une machine à une autre.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dependencies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sont les packages nécessaires au projet.</a:t>
            </a:r>
          </a:p>
        </p:txBody>
      </p:sp>
    </p:spTree>
    <p:extLst>
      <p:ext uri="{BB962C8B-B14F-4D97-AF65-F5344CB8AC3E}">
        <p14:creationId xmlns:p14="http://schemas.microsoft.com/office/powerpoint/2010/main" val="2166945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B300EDD-1EDE-400B-A86D-8C4F5D912818}"/>
              </a:ext>
            </a:extLst>
          </p:cNvPr>
          <p:cNvSpPr txBox="1"/>
          <p:nvPr/>
        </p:nvSpPr>
        <p:spPr>
          <a:xfrm>
            <a:off x="471881" y="585499"/>
            <a:ext cx="609460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Dépendances de développement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Définition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dépendance normale est nécessaire pour faire fonctionner l’application.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dépendance de développement est utile seulement pendant le développement.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Plus tard, on utilisera peut-être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relance automatiquement le serveur quand on modifie un fichier.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est utile pendant le développement, mais pas obligatoire pour faire fonctionner l’application en production.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Installer une dépendance de développement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install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--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save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-dev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 :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Dans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package.json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cela ajoute :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devDependencies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"^3.1.0"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591EDD6-3C80-4654-9BDC-542E5AF87271}"/>
              </a:ext>
            </a:extLst>
          </p:cNvPr>
          <p:cNvSpPr txBox="1"/>
          <p:nvPr/>
        </p:nvSpPr>
        <p:spPr>
          <a:xfrm>
            <a:off x="6566483" y="2401380"/>
            <a:ext cx="52871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Différence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dependencies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"express": "^5.1.0"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},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devDependencies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nodemon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"^3.1.0"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Explication simple</a:t>
            </a: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dependencies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nécessaires pour l’application ;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devDependencies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nécessaires seulement pour développer.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3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E384B39-49F5-4FC0-8658-E4882E519067}"/>
              </a:ext>
            </a:extLst>
          </p:cNvPr>
          <p:cNvSpPr txBox="1"/>
          <p:nvPr/>
        </p:nvSpPr>
        <p:spPr>
          <a:xfrm>
            <a:off x="522214" y="649254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CommonJS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ES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 Node.js, on peut découper le code en plusieurs fichiers.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 exemple, au lieu de tout écrire dans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app.js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on peut avoir :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C7A8D50-BA2E-4AA0-B1A0-4A7695BD7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14" y="1596232"/>
            <a:ext cx="3324689" cy="17528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2D8B514-4F77-46E1-B922-56E67EEC8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44" y="1596232"/>
            <a:ext cx="5077534" cy="439163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747B3F5-C84A-416A-A065-D1E6D1785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4" y="3630756"/>
            <a:ext cx="5191850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48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B0887FE-9404-41A2-8F23-B372128D0CE4}"/>
              </a:ext>
            </a:extLst>
          </p:cNvPr>
          <p:cNvSpPr txBox="1"/>
          <p:nvPr/>
        </p:nvSpPr>
        <p:spPr>
          <a:xfrm>
            <a:off x="379602" y="318188"/>
            <a:ext cx="6094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ES Modules</a:t>
            </a:r>
          </a:p>
          <a:p>
            <a:r>
              <a:rPr lang="fr-FR" b="1" dirty="0"/>
              <a:t>Définition simple</a:t>
            </a:r>
          </a:p>
          <a:p>
            <a:r>
              <a:rPr lang="fr-FR" b="1" dirty="0"/>
              <a:t>ES Modules</a:t>
            </a:r>
            <a:r>
              <a:rPr lang="fr-FR" dirty="0"/>
              <a:t> est la manière moderne d’importer et d’exporter du code JavaScript.</a:t>
            </a:r>
          </a:p>
          <a:p>
            <a:r>
              <a:rPr lang="fr-FR" dirty="0"/>
              <a:t>C’est la syntaxe qu’on retrouve souvent dans </a:t>
            </a:r>
            <a:r>
              <a:rPr lang="fr-FR" dirty="0" err="1"/>
              <a:t>React</a:t>
            </a:r>
            <a:r>
              <a:rPr lang="fr-FR" dirty="0"/>
              <a:t>, Next.js, Vue et les projets modernes.</a:t>
            </a:r>
          </a:p>
          <a:p>
            <a:r>
              <a:rPr lang="fr-FR" dirty="0"/>
              <a:t>Il utilise : import/export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A38CEC6-E6E9-4EA5-B79C-35CC06D649DD}"/>
              </a:ext>
            </a:extLst>
          </p:cNvPr>
          <p:cNvSpPr txBox="1"/>
          <p:nvPr/>
        </p:nvSpPr>
        <p:spPr>
          <a:xfrm>
            <a:off x="6260285" y="777592"/>
            <a:ext cx="57863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Activer ES Modules dans 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utiliser ES Modules dans Node.js, on ajoute cette ligne dans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package.json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lang="fr-FR" sz="1600" dirty="0"/>
              <a:t>"type": "module"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AC70795-CD5E-4905-A2EA-E0A21E5A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2" y="2563855"/>
            <a:ext cx="4563112" cy="201005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48FEE13-507A-4B8C-932F-1EFB34549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288" y="1821006"/>
            <a:ext cx="3429479" cy="243874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0D0D0D4-8D31-46F6-84E1-8E903D1C4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93" y="4788253"/>
            <a:ext cx="531569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44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E1CBB26-9D00-44EC-BF48-5DB17BF3C548}"/>
              </a:ext>
            </a:extLst>
          </p:cNvPr>
          <p:cNvSpPr txBox="1"/>
          <p:nvPr/>
        </p:nvSpPr>
        <p:spPr>
          <a:xfrm>
            <a:off x="614494" y="734695"/>
            <a:ext cx="60946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par défaut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Définition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Quand un fichier exporte une seule chose principale, on peut utiliser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export default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7E3FF6-E3A2-4A68-A6F7-EF47ACA0D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65" y="844635"/>
            <a:ext cx="3172268" cy="169568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604F478-18AC-4DD4-842F-CB87EDAB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67" y="2456467"/>
            <a:ext cx="415348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73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DCDF0C7-0FE0-48D6-8B9A-D40BE639464F}"/>
              </a:ext>
            </a:extLst>
          </p:cNvPr>
          <p:cNvSpPr txBox="1"/>
          <p:nvPr/>
        </p:nvSpPr>
        <p:spPr>
          <a:xfrm>
            <a:off x="807440" y="733144"/>
            <a:ext cx="60946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Exercice simple — Découper un projet en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Créer un petit projet Node.js avec ES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projet doit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 un fichier principal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app.js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;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 un module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etudiant.js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;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 un module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notes.js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;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afficher les informations d’un étudiant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calculer sa moyenne 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afficher s’il est admis ou non.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28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C2349-0926-413B-9262-7CB0B6D5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743" y="2850327"/>
            <a:ext cx="10058400" cy="1609344"/>
          </a:xfrm>
        </p:spPr>
        <p:txBody>
          <a:bodyPr/>
          <a:lstStyle/>
          <a:p>
            <a:r>
              <a:rPr lang="fr-FR" dirty="0"/>
              <a:t>Les bases serveur avec Node.js</a:t>
            </a:r>
          </a:p>
        </p:txBody>
      </p:sp>
    </p:spTree>
    <p:extLst>
      <p:ext uri="{BB962C8B-B14F-4D97-AF65-F5344CB8AC3E}">
        <p14:creationId xmlns:p14="http://schemas.microsoft.com/office/powerpoint/2010/main" val="1413288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8EC64A-DA05-4AEC-9C6F-5001FA87F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Créer un serveur web simple avec Node.js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F372FB-3AD7-42AA-9F68-653BC558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022269" cy="1024464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Sur un nouveau projet :</a:t>
            </a:r>
          </a:p>
          <a:p>
            <a:r>
              <a:rPr lang="fr-FR" dirty="0"/>
              <a:t>On initialise avec : </a:t>
            </a:r>
            <a:r>
              <a:rPr lang="fr-FR" dirty="0" err="1"/>
              <a:t>npm</a:t>
            </a:r>
            <a:r>
              <a:rPr lang="fr-FR" dirty="0"/>
              <a:t> init –y</a:t>
            </a:r>
          </a:p>
          <a:p>
            <a:r>
              <a:rPr lang="fr-FR" dirty="0"/>
              <a:t>On ajoute </a:t>
            </a:r>
            <a:r>
              <a:rPr lang="fr-FR" dirty="0" err="1"/>
              <a:t>type:module</a:t>
            </a:r>
            <a:r>
              <a:rPr lang="fr-FR" dirty="0"/>
              <a:t> dans package</a:t>
            </a:r>
          </a:p>
          <a:p>
            <a:r>
              <a:rPr lang="fr-FR" dirty="0"/>
              <a:t>On </a:t>
            </a:r>
            <a:r>
              <a:rPr lang="fr-FR" dirty="0" err="1"/>
              <a:t>cree</a:t>
            </a:r>
            <a:r>
              <a:rPr lang="fr-FR" dirty="0"/>
              <a:t> notre fichier principal app.js</a:t>
            </a:r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C412489-BE34-4609-9403-9BC72809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876" y="1339894"/>
            <a:ext cx="3491588" cy="527016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207B6E6-4B5F-4555-A749-72BF568FCED6}"/>
              </a:ext>
            </a:extLst>
          </p:cNvPr>
          <p:cNvSpPr txBox="1"/>
          <p:nvPr/>
        </p:nvSpPr>
        <p:spPr>
          <a:xfrm>
            <a:off x="387990" y="3296630"/>
            <a:ext cx="6094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importe le module natif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module natif est un module déjà fourni par Node.js.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n’a pas besoin de l’installer avec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0CFC5C5-BE8E-41BB-837A-78FF28320D66}"/>
              </a:ext>
            </a:extLst>
          </p:cNvPr>
          <p:cNvSpPr txBox="1"/>
          <p:nvPr/>
        </p:nvSpPr>
        <p:spPr>
          <a:xfrm>
            <a:off x="387990" y="4278385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http.createServer</a:t>
            </a:r>
            <a:r>
              <a:rPr lang="fr-FR" dirty="0"/>
              <a:t>() crée un serveur </a:t>
            </a:r>
            <a:r>
              <a:rPr lang="fr-FR" dirty="0" err="1"/>
              <a:t>web.La</a:t>
            </a:r>
            <a:r>
              <a:rPr lang="fr-FR" dirty="0"/>
              <a:t> fonction reçoit deux paramètres importants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req</a:t>
            </a:r>
            <a:r>
              <a:rPr lang="fr-FR" dirty="0"/>
              <a:t> représente la requête reçue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res</a:t>
            </a:r>
            <a:r>
              <a:rPr lang="fr-FR" dirty="0"/>
              <a:t> représente la réponse envoyée.</a:t>
            </a:r>
          </a:p>
          <a:p>
            <a:r>
              <a:rPr lang="fr-FR" dirty="0" err="1"/>
              <a:t>res.end</a:t>
            </a:r>
            <a:r>
              <a:rPr lang="fr-FR" dirty="0"/>
              <a:t>() termine la réponse et envoie le contenu au navigateur.</a:t>
            </a:r>
          </a:p>
          <a:p>
            <a:r>
              <a:rPr lang="fr-FR" dirty="0"/>
              <a:t>Le serveur écoute sur le port 3000.Le port permet d’identifier l’application sur la machine.</a:t>
            </a:r>
          </a:p>
        </p:txBody>
      </p:sp>
    </p:spTree>
    <p:extLst>
      <p:ext uri="{BB962C8B-B14F-4D97-AF65-F5344CB8AC3E}">
        <p14:creationId xmlns:p14="http://schemas.microsoft.com/office/powerpoint/2010/main" val="1984166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1DBFA7-DE9D-45F2-9B86-51A7CF24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62" y="385894"/>
            <a:ext cx="10566186" cy="5786306"/>
          </a:xfrm>
        </p:spPr>
        <p:txBody>
          <a:bodyPr/>
          <a:lstStyle/>
          <a:p>
            <a:r>
              <a:rPr lang="fr-FR" dirty="0"/>
              <a:t>Afficher des informations sur la requête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109A2E-CD49-4E34-B534-5BF0272E8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1071147"/>
            <a:ext cx="4001058" cy="28197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97B85B-EB41-4BF0-AB53-B7C63FA3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54" y="633369"/>
            <a:ext cx="4267796" cy="480127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5827FAE-E446-41F6-BF7E-F98B8E919F4C}"/>
              </a:ext>
            </a:extLst>
          </p:cNvPr>
          <p:cNvSpPr txBox="1"/>
          <p:nvPr/>
        </p:nvSpPr>
        <p:spPr>
          <a:xfrm>
            <a:off x="342252" y="4833923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req.url indique l’URL </a:t>
            </a:r>
            <a:r>
              <a:rPr lang="fr-FR" dirty="0" err="1"/>
              <a:t>demandée.Exemple</a:t>
            </a:r>
            <a:r>
              <a:rPr lang="fr-FR" dirty="0"/>
              <a:t> :/ou :/</a:t>
            </a:r>
            <a:r>
              <a:rPr lang="fr-FR" dirty="0" err="1"/>
              <a:t>contactou</a:t>
            </a:r>
            <a:r>
              <a:rPr lang="fr-FR" dirty="0"/>
              <a:t> :/produits</a:t>
            </a:r>
          </a:p>
        </p:txBody>
      </p:sp>
    </p:spTree>
    <p:extLst>
      <p:ext uri="{BB962C8B-B14F-4D97-AF65-F5344CB8AC3E}">
        <p14:creationId xmlns:p14="http://schemas.microsoft.com/office/powerpoint/2010/main" val="4081532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F87B13-DC03-4796-BC0B-339561C30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18" y="713064"/>
            <a:ext cx="10529582" cy="5425580"/>
          </a:xfrm>
        </p:spPr>
        <p:txBody>
          <a:bodyPr/>
          <a:lstStyle/>
          <a:p>
            <a:r>
              <a:rPr lang="fr-FR" dirty="0"/>
              <a:t>Gérer plusieurs routes simples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22747C-CCC6-4EC1-833A-E843A6B6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850" y="713064"/>
            <a:ext cx="3991532" cy="333421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F077CDA-D25D-4D75-92C8-BE6946AFE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46" y="1206081"/>
            <a:ext cx="2667372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57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8B3A0-E585-4556-93A3-0BD43B06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176" y="696286"/>
            <a:ext cx="10348072" cy="5475914"/>
          </a:xfrm>
        </p:spPr>
        <p:txBody>
          <a:bodyPr/>
          <a:lstStyle/>
          <a:p>
            <a:r>
              <a:rPr lang="fr-FR" dirty="0"/>
              <a:t>Envoyer du HTML</a:t>
            </a:r>
          </a:p>
          <a:p>
            <a:r>
              <a:rPr lang="fr-FR" dirty="0" err="1"/>
              <a:t>res.setHeader</a:t>
            </a:r>
            <a:r>
              <a:rPr lang="fr-FR" dirty="0"/>
              <a:t>("Content-Type", "</a:t>
            </a:r>
            <a:r>
              <a:rPr lang="fr-FR" dirty="0" err="1"/>
              <a:t>text</a:t>
            </a:r>
            <a:r>
              <a:rPr lang="fr-FR" dirty="0"/>
              <a:t>/html; </a:t>
            </a:r>
            <a:r>
              <a:rPr lang="fr-FR" dirty="0" err="1"/>
              <a:t>charset</a:t>
            </a:r>
            <a:r>
              <a:rPr lang="fr-FR" dirty="0"/>
              <a:t>=utf-8");</a:t>
            </a:r>
          </a:p>
          <a:p>
            <a:r>
              <a:rPr lang="fr-FR" dirty="0"/>
              <a:t>Cette ligne indique au navigateur que la réponse est du </a:t>
            </a:r>
            <a:r>
              <a:rPr lang="fr-FR" dirty="0" err="1"/>
              <a:t>HTML.Sans</a:t>
            </a:r>
            <a:r>
              <a:rPr lang="fr-FR" dirty="0"/>
              <a:t> cela, le navigateur peut afficher le contenu comme du texte simple.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FFD0EB-36B4-43ED-9619-7BDC9477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722" y="2318909"/>
            <a:ext cx="4448796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867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497819-10D3-4822-9595-FC6A00D9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06" y="528506"/>
            <a:ext cx="10599742" cy="5643694"/>
          </a:xfrm>
        </p:spPr>
        <p:txBody>
          <a:bodyPr/>
          <a:lstStyle/>
          <a:p>
            <a:r>
              <a:rPr lang="fr-FR" dirty="0"/>
              <a:t>Envoyer du JSON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F2B5617-199C-45AF-8F1E-A0DBA7805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3" y="1442692"/>
            <a:ext cx="4153480" cy="432495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D1E30F8-4C11-4D9C-9E4F-6225A374A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2" y="1177666"/>
            <a:ext cx="5134692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13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C6674E-9880-4754-B508-26E4FCB2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28" y="520117"/>
            <a:ext cx="10616520" cy="5652083"/>
          </a:xfrm>
        </p:spPr>
        <p:txBody>
          <a:bodyPr/>
          <a:lstStyle/>
          <a:p>
            <a:r>
              <a:rPr lang="fr-FR" dirty="0"/>
              <a:t>Gestion des URL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F9D57F-7D35-40CF-894E-94E921084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8" y="924004"/>
            <a:ext cx="5071860" cy="44533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3440338-3F99-47DC-85AD-2011796DD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077" y="343179"/>
            <a:ext cx="3926389" cy="342792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B40383D-3797-48CF-9653-95E39E402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135" y="3763480"/>
            <a:ext cx="3086658" cy="28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2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1A1614-B7A8-4E22-8E41-8B91B66F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01" y="562062"/>
            <a:ext cx="5780015" cy="2608976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Paramètres et </a:t>
            </a:r>
            <a:r>
              <a:rPr lang="fr-FR" dirty="0" err="1"/>
              <a:t>query</a:t>
            </a:r>
            <a:r>
              <a:rPr lang="fr-FR" dirty="0"/>
              <a:t> string</a:t>
            </a:r>
          </a:p>
          <a:p>
            <a:r>
              <a:rPr lang="fr-FR" dirty="0"/>
              <a:t>La </a:t>
            </a:r>
            <a:r>
              <a:rPr lang="fr-FR" dirty="0" err="1"/>
              <a:t>query</a:t>
            </a:r>
            <a:r>
              <a:rPr lang="fr-FR" dirty="0"/>
              <a:t> string est la partie de l’URL qui vient après ?.</a:t>
            </a:r>
          </a:p>
          <a:p>
            <a:r>
              <a:rPr lang="fr-FR" dirty="0"/>
              <a:t>Exemple :/</a:t>
            </a:r>
            <a:r>
              <a:rPr lang="fr-FR" dirty="0" err="1"/>
              <a:t>search?keyword</a:t>
            </a:r>
            <a:r>
              <a:rPr lang="fr-FR" dirty="0"/>
              <a:t>=</a:t>
            </a:r>
            <a:r>
              <a:rPr lang="fr-FR" dirty="0" err="1"/>
              <a:t>node</a:t>
            </a:r>
            <a:endParaRPr lang="fr-FR" dirty="0"/>
          </a:p>
          <a:p>
            <a:r>
              <a:rPr lang="fr-FR" dirty="0"/>
              <a:t>Dans cette URL :/</a:t>
            </a:r>
            <a:r>
              <a:rPr lang="fr-FR" dirty="0" err="1"/>
              <a:t>search</a:t>
            </a:r>
            <a:r>
              <a:rPr lang="fr-FR" dirty="0"/>
              <a:t> est le chemin. keyword=</a:t>
            </a:r>
            <a:r>
              <a:rPr lang="fr-FR" dirty="0" err="1"/>
              <a:t>node</a:t>
            </a:r>
            <a:r>
              <a:rPr lang="fr-FR" dirty="0"/>
              <a:t> est la </a:t>
            </a:r>
            <a:r>
              <a:rPr lang="fr-FR" dirty="0" err="1"/>
              <a:t>query</a:t>
            </a:r>
            <a:r>
              <a:rPr lang="fr-FR" dirty="0"/>
              <a:t> string.</a:t>
            </a:r>
          </a:p>
          <a:p>
            <a:r>
              <a:rPr lang="fr-FR" dirty="0"/>
              <a:t>Plusieurs paramètres Exemple :/</a:t>
            </a:r>
            <a:r>
              <a:rPr lang="fr-FR" dirty="0" err="1"/>
              <a:t>products?category</a:t>
            </a:r>
            <a:r>
              <a:rPr lang="fr-FR" dirty="0"/>
              <a:t>=</a:t>
            </a:r>
            <a:r>
              <a:rPr lang="fr-FR" dirty="0" err="1"/>
              <a:t>books&amp;page</a:t>
            </a:r>
            <a:r>
              <a:rPr lang="fr-FR" dirty="0"/>
              <a:t>=2</a:t>
            </a:r>
          </a:p>
          <a:p>
            <a:r>
              <a:rPr lang="fr-FR" dirty="0"/>
              <a:t>On a deux paramètres :</a:t>
            </a:r>
            <a:r>
              <a:rPr lang="fr-FR" dirty="0" err="1"/>
              <a:t>category</a:t>
            </a:r>
            <a:r>
              <a:rPr lang="fr-FR" dirty="0"/>
              <a:t>=books page=2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02901E-C3EC-4474-AE3A-5DD405C2E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79" y="231197"/>
            <a:ext cx="4077269" cy="47345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29BED04-A9F4-40E8-971B-BB98678C8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784" y="4965783"/>
            <a:ext cx="4039164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78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B2878-D948-43EB-9711-9497BC4B2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97" y="780176"/>
            <a:ext cx="10440351" cy="5392024"/>
          </a:xfrm>
        </p:spPr>
        <p:txBody>
          <a:bodyPr/>
          <a:lstStyle/>
          <a:p>
            <a:r>
              <a:rPr lang="fr-FR" dirty="0"/>
              <a:t>Modules natifs utiles</a:t>
            </a:r>
          </a:p>
          <a:p>
            <a:r>
              <a:rPr lang="fr-FR" dirty="0"/>
              <a:t>Node.js fournit plusieurs modules natifs.</a:t>
            </a:r>
          </a:p>
          <a:p>
            <a:r>
              <a:rPr lang="fr-FR" dirty="0"/>
              <a:t>On ne les installe pas avec </a:t>
            </a:r>
            <a:r>
              <a:rPr lang="fr-FR" dirty="0" err="1"/>
              <a:t>npm</a:t>
            </a:r>
            <a:r>
              <a:rPr lang="fr-FR" dirty="0"/>
              <a:t>.</a:t>
            </a:r>
          </a:p>
          <a:p>
            <a:r>
              <a:rPr lang="fr-FR" b="1" dirty="0"/>
              <a:t>Les plus utiles pour ce module</a:t>
            </a:r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AA523EA-E819-4539-91CE-AD5E203BA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07459"/>
              </p:ext>
            </p:extLst>
          </p:nvPr>
        </p:nvGraphicFramePr>
        <p:xfrm>
          <a:off x="533079" y="2676088"/>
          <a:ext cx="8040470" cy="2203239"/>
        </p:xfrm>
        <a:graphic>
          <a:graphicData uri="http://schemas.openxmlformats.org/drawingml/2006/table">
            <a:tbl>
              <a:tblPr/>
              <a:tblGrid>
                <a:gridCol w="4020235">
                  <a:extLst>
                    <a:ext uri="{9D8B030D-6E8A-4147-A177-3AD203B41FA5}">
                      <a16:colId xmlns:a16="http://schemas.microsoft.com/office/drawing/2014/main" val="1357198161"/>
                    </a:ext>
                  </a:extLst>
                </a:gridCol>
                <a:gridCol w="4020235">
                  <a:extLst>
                    <a:ext uri="{9D8B030D-6E8A-4147-A177-3AD203B41FA5}">
                      <a16:colId xmlns:a16="http://schemas.microsoft.com/office/drawing/2014/main" val="3647093225"/>
                    </a:ext>
                  </a:extLst>
                </a:gridCol>
              </a:tblGrid>
              <a:tr h="383172">
                <a:tc>
                  <a:txBody>
                    <a:bodyPr/>
                    <a:lstStyle/>
                    <a:p>
                      <a:r>
                        <a:rPr lang="fr-FR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Rôle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978227"/>
                  </a:ext>
                </a:extLst>
              </a:tr>
              <a:tr h="383172">
                <a:tc>
                  <a:txBody>
                    <a:bodyPr/>
                    <a:lstStyle/>
                    <a:p>
                      <a:r>
                        <a:rPr lang="fr-FR"/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créer un serveur web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312322"/>
                  </a:ext>
                </a:extLst>
              </a:tr>
              <a:tr h="383172">
                <a:tc>
                  <a:txBody>
                    <a:bodyPr/>
                    <a:lstStyle/>
                    <a:p>
                      <a:r>
                        <a:rPr lang="fr-FR"/>
                        <a:t>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lire et écrire des fichiers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41713"/>
                  </a:ext>
                </a:extLst>
              </a:tr>
              <a:tr h="383172">
                <a:tc>
                  <a:txBody>
                    <a:bodyPr/>
                    <a:lstStyle/>
                    <a:p>
                      <a:r>
                        <a:rPr lang="fr-FR"/>
                        <a:t>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manipuler les chemins de fichiers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743226"/>
                  </a:ext>
                </a:extLst>
              </a:tr>
              <a:tr h="670551">
                <a:tc>
                  <a:txBody>
                    <a:bodyPr/>
                    <a:lstStyle/>
                    <a:p>
                      <a:r>
                        <a:rPr lang="fr-FR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accéder aux informations du processus 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00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412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606543E-542C-441D-AD1C-A30AAC47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25" y="517764"/>
            <a:ext cx="3962953" cy="36581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5EDA64E-4096-4AD1-A160-66A4C203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77" y="687196"/>
            <a:ext cx="579200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34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63A520-A8E9-49A3-A586-9965A234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00" y="61442"/>
            <a:ext cx="6620799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848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676675-B92F-4BD9-BF6F-21E284122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07" y="864066"/>
            <a:ext cx="10524241" cy="5308134"/>
          </a:xfrm>
        </p:spPr>
        <p:txBody>
          <a:bodyPr/>
          <a:lstStyle/>
          <a:p>
            <a:r>
              <a:rPr lang="fr-FR" dirty="0"/>
              <a:t>Gestion simple des erreurs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947175-F5E0-4CE0-81FE-6D46C84B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950" y="398617"/>
            <a:ext cx="5201376" cy="4248743"/>
          </a:xfrm>
          <a:prstGeom prst="rect">
            <a:avLst/>
          </a:prstGeom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3D58CBB-07A3-435A-A970-D8E4CB5EF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666259"/>
              </p:ext>
            </p:extLst>
          </p:nvPr>
        </p:nvGraphicFramePr>
        <p:xfrm>
          <a:off x="457579" y="2105637"/>
          <a:ext cx="4681976" cy="3017392"/>
        </p:xfrm>
        <a:graphic>
          <a:graphicData uri="http://schemas.openxmlformats.org/drawingml/2006/table">
            <a:tbl>
              <a:tblPr/>
              <a:tblGrid>
                <a:gridCol w="2340988">
                  <a:extLst>
                    <a:ext uri="{9D8B030D-6E8A-4147-A177-3AD203B41FA5}">
                      <a16:colId xmlns:a16="http://schemas.microsoft.com/office/drawing/2014/main" val="1495778971"/>
                    </a:ext>
                  </a:extLst>
                </a:gridCol>
                <a:gridCol w="2340988">
                  <a:extLst>
                    <a:ext uri="{9D8B030D-6E8A-4147-A177-3AD203B41FA5}">
                      <a16:colId xmlns:a16="http://schemas.microsoft.com/office/drawing/2014/main" val="3204633714"/>
                    </a:ext>
                  </a:extLst>
                </a:gridCol>
              </a:tblGrid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Signification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238874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succès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611475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301 / 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redirection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5578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mauvaise requête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446171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401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non authentifié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396766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403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interdit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17990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introuvable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717509"/>
                  </a:ext>
                </a:extLst>
              </a:tr>
              <a:tr h="377174">
                <a:tc>
                  <a:txBody>
                    <a:bodyPr/>
                    <a:lstStyle/>
                    <a:p>
                      <a:r>
                        <a:rPr lang="fr-FR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erreur serveur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195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035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9C49BF-8CAA-4C90-9ABD-7867A16C6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19" y="872455"/>
            <a:ext cx="10457129" cy="5299745"/>
          </a:xfrm>
        </p:spPr>
        <p:txBody>
          <a:bodyPr/>
          <a:lstStyle/>
          <a:p>
            <a:r>
              <a:rPr lang="fr-FR" dirty="0"/>
              <a:t>Limites du développement sans </a:t>
            </a:r>
            <a:r>
              <a:rPr lang="fr-FR" dirty="0" err="1"/>
              <a:t>framework</a:t>
            </a:r>
            <a:endParaRPr lang="fr-F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module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permet de comprendre les bases.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Mais pour construire une vraie application web, il devient vite limité.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Exemple de difficultés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chaque route, il faut écrire beaucoup de conditions :</a:t>
            </a:r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A7BD899-763E-44D1-8AC5-520AD417D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08" y="2367455"/>
            <a:ext cx="4677428" cy="232442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18CEF98-E819-4946-A1CF-76CFCFF251F9}"/>
              </a:ext>
            </a:extLst>
          </p:cNvPr>
          <p:cNvSpPr txBox="1"/>
          <p:nvPr/>
        </p:nvSpPr>
        <p:spPr>
          <a:xfrm>
            <a:off x="6386119" y="2079389"/>
            <a:ext cx="54339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Autres limites</a:t>
            </a:r>
          </a:p>
          <a:p>
            <a:r>
              <a:rPr lang="fr-FR" dirty="0"/>
              <a:t>Avec Node.js natif, il faut gérer manuellement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routes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méthodes GET et POST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paramètres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formulaires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fichiers statiques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erreurs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l’organisation du code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vues HTML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middlewares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la séparation routes / contrôleurs. </a:t>
            </a:r>
          </a:p>
          <a:p>
            <a:r>
              <a:rPr lang="fr-FR" dirty="0"/>
              <a:t>Tout est possible, mais il faut écrire beaucoup de code.</a:t>
            </a:r>
          </a:p>
        </p:txBody>
      </p:sp>
    </p:spTree>
    <p:extLst>
      <p:ext uri="{BB962C8B-B14F-4D97-AF65-F5344CB8AC3E}">
        <p14:creationId xmlns:p14="http://schemas.microsoft.com/office/powerpoint/2010/main" val="466196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{5973E488-8DA2-4463-B488-B9ED0423983E}TF2ec419c9-97c3-4958-b02a-0886397d33afb4947a0a-f73b17ff7c38</Template>
  <TotalTime>438</TotalTime>
  <Words>3205</Words>
  <Application>Microsoft Office PowerPoint</Application>
  <PresentationFormat>Grand écran</PresentationFormat>
  <Paragraphs>421</Paragraphs>
  <Slides>46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6" baseType="lpstr">
      <vt:lpstr>Aptos</vt:lpstr>
      <vt:lpstr>Aptos Display</vt:lpstr>
      <vt:lpstr>Arial</vt:lpstr>
      <vt:lpstr>Arial Unicode MS</vt:lpstr>
      <vt:lpstr>Consolas</vt:lpstr>
      <vt:lpstr>Rockwell</vt:lpstr>
      <vt:lpstr>Rockwell Condensed</vt:lpstr>
      <vt:lpstr>Symbol</vt:lpstr>
      <vt:lpstr>Wingdings</vt:lpstr>
      <vt:lpstr>Type de bois</vt:lpstr>
      <vt:lpstr>Présentation PowerPoint</vt:lpstr>
      <vt:lpstr>Module 1  Comprendre l’écosystème Node.js</vt:lpstr>
      <vt:lpstr>Introduction a javascript -rappel</vt:lpstr>
      <vt:lpstr>Présentation PowerPoint</vt:lpstr>
      <vt:lpstr>Présentation PowerPoint</vt:lpstr>
      <vt:lpstr>Présentation PowerPoint</vt:lpstr>
      <vt:lpstr>Rôle et intérêt de Node.js</vt:lpstr>
      <vt:lpstr>Pourquoi utiliser Node.js ?</vt:lpstr>
      <vt:lpstr>Le moteur V8</vt:lpstr>
      <vt:lpstr>Différence entre JavaScript navigateur et JavaScript côté serveur</vt:lpstr>
      <vt:lpstr>Présentation PowerPoint</vt:lpstr>
      <vt:lpstr>Programmation événementielle</vt:lpstr>
      <vt:lpstr>Fonctionnement asynchrone</vt:lpstr>
      <vt:lpstr>Les callbacks</vt:lpstr>
      <vt:lpstr>Présentation PowerPoint</vt:lpstr>
      <vt:lpstr>Les Promises</vt:lpstr>
      <vt:lpstr>Présentation PowerPoint</vt:lpstr>
      <vt:lpstr>Présentation PowerPoint</vt:lpstr>
      <vt:lpstr>async / await</vt:lpstr>
      <vt:lpstr>Présentation PowerPoint</vt:lpstr>
      <vt:lpstr>Présentation PowerPoint</vt:lpstr>
      <vt:lpstr>Usages et cas d’emploi de Node.js</vt:lpstr>
      <vt:lpstr>Démarrer un projet Node.js</vt:lpstr>
      <vt:lpstr>Installation de Node.js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bases serveur avec Node.js</vt:lpstr>
      <vt:lpstr>Créer un serveur web simple avec Node.js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Bahmed Kamel</dc:creator>
  <cp:lastModifiedBy>Bahmed Kamel</cp:lastModifiedBy>
  <cp:revision>38</cp:revision>
  <dcterms:created xsi:type="dcterms:W3CDTF">2026-05-12T13:24:39Z</dcterms:created>
  <dcterms:modified xsi:type="dcterms:W3CDTF">2026-05-18T11:42:23Z</dcterms:modified>
</cp:coreProperties>
</file>